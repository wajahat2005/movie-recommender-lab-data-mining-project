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DS-311 Data Mining · Fall 2026 · Project P07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2540"/>
            <a:ext cx="9156700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Recommender Lab: who does what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887980"/>
            <a:ext cx="85026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 roles. Each of us owns one recommender end to end: data slice, model, evaluation, app panel and report section.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5158740"/>
            <a:ext cx="3386614" cy="886460"/>
          </a:xfrm>
          <a:prstGeom prst="roundRect">
            <a:avLst>
              <a:gd name="adj" fmla="val 11461"/>
            </a:avLst>
          </a:prstGeom>
          <a:solidFill>
            <a:srgbClr val="2A3342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5158740"/>
            <a:ext cx="3386614" cy="886460"/>
          </a:xfrm>
          <a:custGeom>
            <a:avLst/>
            <a:gdLst/>
            <a:ahLst/>
            <a:cxnLst/>
            <a:rect l="l" t="t" r="r" b="b"/>
            <a:pathLst>
              <a:path w="3386614" h="886460">
                <a:moveTo>
                  <a:pt x="101600" y="886460"/>
                </a:moveTo>
                <a:lnTo>
                  <a:pt x="101600" y="8864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84860"/>
                </a:lnTo>
                <a:arcTo hR="101600" wR="50800" stAng="108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5336540"/>
            <a:ext cx="3017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8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REPO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5600700"/>
            <a:ext cx="30172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+ content-based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2614" y="5158740"/>
            <a:ext cx="3386693" cy="886460"/>
          </a:xfrm>
          <a:prstGeom prst="roundRect">
            <a:avLst>
              <a:gd name="adj" fmla="val 11461"/>
            </a:avLst>
          </a:prstGeom>
          <a:solidFill>
            <a:srgbClr val="2A3342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14" y="5158740"/>
            <a:ext cx="3386693" cy="886460"/>
          </a:xfrm>
          <a:custGeom>
            <a:avLst/>
            <a:gdLst/>
            <a:ahLst/>
            <a:cxnLst/>
            <a:rect l="l" t="t" r="r" b="b"/>
            <a:pathLst>
              <a:path w="3386693" h="886460">
                <a:moveTo>
                  <a:pt x="101600" y="886460"/>
                </a:moveTo>
                <a:lnTo>
                  <a:pt x="101600" y="8864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84860"/>
                </a:lnTo>
                <a:arcTo hR="101600" wR="50800" stAng="108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11" name="Text 9"/>
          <p:cNvSpPr/>
          <p:nvPr/>
        </p:nvSpPr>
        <p:spPr>
          <a:xfrm>
            <a:off x="4656614" y="5336540"/>
            <a:ext cx="3017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FA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B · EMMAN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56614" y="5600700"/>
            <a:ext cx="30173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+ collaborative filtering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92507" y="5158740"/>
            <a:ext cx="3386693" cy="886460"/>
          </a:xfrm>
          <a:prstGeom prst="roundRect">
            <a:avLst>
              <a:gd name="adj" fmla="val 11461"/>
            </a:avLst>
          </a:prstGeom>
          <a:solidFill>
            <a:srgbClr val="2A33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507" y="5158740"/>
            <a:ext cx="3386693" cy="886460"/>
          </a:xfrm>
          <a:custGeom>
            <a:avLst/>
            <a:gdLst/>
            <a:ahLst/>
            <a:cxnLst/>
            <a:rect l="l" t="t" r="r" b="b"/>
            <a:pathLst>
              <a:path w="3386693" h="886460">
                <a:moveTo>
                  <a:pt x="101600" y="886460"/>
                </a:moveTo>
                <a:lnTo>
                  <a:pt x="101600" y="8864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84860"/>
                </a:lnTo>
                <a:arcTo hR="101600" wR="50800" stAng="10800000" swAng="-5400000"/>
                <a:close/>
              </a:path>
            </a:pathLst>
          </a:custGeom>
          <a:solidFill>
            <a:srgbClr val="5FB39C"/>
          </a:solidFill>
          <a:ln/>
        </p:spPr>
      </p:sp>
      <p:sp>
        <p:nvSpPr>
          <p:cNvPr id="15" name="Text 13"/>
          <p:cNvSpPr/>
          <p:nvPr/>
        </p:nvSpPr>
        <p:spPr>
          <a:xfrm>
            <a:off x="8246507" y="5336540"/>
            <a:ext cx="3017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B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C · ACHU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6507" y="5600700"/>
            <a:ext cx="30173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+ association rules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in one picture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15"/>
            <a:ext cx="1741170" cy="3310890"/>
          </a:xfrm>
          <a:prstGeom prst="roundRect">
            <a:avLst>
              <a:gd name="adj" fmla="val 5653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1595120"/>
            <a:ext cx="1432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5680" y="2110740"/>
            <a:ext cx="1432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433320"/>
            <a:ext cx="14325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MovieLens, join the tables, check and clean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680" y="3375660"/>
            <a:ext cx="1197134" cy="271780"/>
          </a:xfrm>
          <a:prstGeom prst="roundRect">
            <a:avLst>
              <a:gd name="adj" fmla="val 50000"/>
            </a:avLst>
          </a:prstGeom>
          <a:solidFill>
            <a:srgbClr val="B5541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Repo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61920" y="289306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0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20695" y="1415415"/>
            <a:ext cx="1741170" cy="3310890"/>
          </a:xfrm>
          <a:prstGeom prst="roundRect">
            <a:avLst>
              <a:gd name="adj" fmla="val 5653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95120"/>
            <a:ext cx="1432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2110740"/>
            <a:ext cx="14325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433320"/>
            <a:ext cx="14325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EDA: how sparse is it, which movies are popular, what do ratings look like?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375660"/>
            <a:ext cx="907494" cy="271780"/>
          </a:xfrm>
          <a:prstGeom prst="roundRect">
            <a:avLst>
              <a:gd name="adj" fmla="val 50000"/>
            </a:avLst>
          </a:prstGeom>
          <a:solidFill>
            <a:srgbClr val="2A5F9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Emman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6640" y="289306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0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25415" y="1415415"/>
            <a:ext cx="1741170" cy="3310890"/>
          </a:xfrm>
          <a:prstGeom prst="roundRect">
            <a:avLst>
              <a:gd name="adj" fmla="val 5653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5120" y="1595120"/>
            <a:ext cx="1432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05120" y="2110740"/>
            <a:ext cx="143256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fair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5120" y="2667000"/>
            <a:ext cx="14325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past vs future, define the scores, build a simple baseline to beat.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5120" y="3609340"/>
            <a:ext cx="746919" cy="271780"/>
          </a:xfrm>
          <a:prstGeom prst="roundRect">
            <a:avLst>
              <a:gd name="adj" fmla="val 50000"/>
            </a:avLst>
          </a:prstGeom>
          <a:solidFill>
            <a:srgbClr val="23705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Achu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1360" y="289306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0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30135" y="1415415"/>
            <a:ext cx="1741170" cy="3310890"/>
          </a:xfrm>
          <a:prstGeom prst="roundRect">
            <a:avLst>
              <a:gd name="adj" fmla="val 5653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9840" y="1595120"/>
            <a:ext cx="1432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09840" y="2110740"/>
            <a:ext cx="143256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 recommenders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09840" y="290068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 each, all scored the same way.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09840" y="3629660"/>
            <a:ext cx="902097" cy="271780"/>
          </a:xfrm>
          <a:prstGeom prst="roundRect">
            <a:avLst>
              <a:gd name="adj" fmla="val 50000"/>
            </a:avLst>
          </a:prstGeom>
          <a:solidFill>
            <a:srgbClr val="B5541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content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09840" y="3952240"/>
            <a:ext cx="589121" cy="271780"/>
          </a:xfrm>
          <a:prstGeom prst="roundRect">
            <a:avLst>
              <a:gd name="adj" fmla="val 50000"/>
            </a:avLst>
          </a:prstGeom>
          <a:solidFill>
            <a:srgbClr val="2A5F9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CF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09840" y="4274820"/>
            <a:ext cx="736759" cy="271780"/>
          </a:xfrm>
          <a:prstGeom prst="roundRect">
            <a:avLst>
              <a:gd name="adj" fmla="val 50000"/>
            </a:avLst>
          </a:prstGeom>
          <a:solidFill>
            <a:srgbClr val="23705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6080" y="2893060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0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34855" y="1415415"/>
            <a:ext cx="1741170" cy="3310890"/>
          </a:xfrm>
          <a:prstGeom prst="roundRect">
            <a:avLst>
              <a:gd name="adj" fmla="val 5653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4560" y="1595120"/>
            <a:ext cx="1432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814560" y="2110740"/>
            <a:ext cx="143256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show, explain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14560" y="2667000"/>
            <a:ext cx="14325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table, web app, report and viva.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14560" y="3395980"/>
            <a:ext cx="736759" cy="271780"/>
          </a:xfrm>
          <a:prstGeom prst="roundRect">
            <a:avLst>
              <a:gd name="adj" fmla="val 50000"/>
            </a:avLst>
          </a:prstGeom>
          <a:solidFill>
            <a:srgbClr val="1D243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800" y="4983480"/>
            <a:ext cx="10566400" cy="604520"/>
          </a:xfrm>
          <a:prstGeom prst="roundRect">
            <a:avLst>
              <a:gd name="adj" fmla="val 16807"/>
            </a:avLst>
          </a:prstGeom>
          <a:solidFill>
            <a:srgbClr val="1D2430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does </a:t>
            </a:r>
            <a:r>
              <a:rPr lang="en-US" sz="14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 of steps 1–3</a:t>
            </a:r>
            <a:r>
              <a:rPr lang="en-US" sz="14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recommender in step 4</a:t>
            </a:r>
            <a:r>
              <a:rPr lang="en-US" sz="14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4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 of step 5</a:t>
            </a:r>
            <a:r>
              <a:rPr lang="en-US" sz="14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split it this way (no lead roles)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5187950" cy="1207770"/>
          </a:xfrm>
          <a:prstGeom prst="roundRect">
            <a:avLst>
              <a:gd name="adj" fmla="val 814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22120"/>
            <a:ext cx="48687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rule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46480" y="2057400"/>
            <a:ext cx="48687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member must build and name a mining technique. One recommender each covers that.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8075" y="1517016"/>
            <a:ext cx="5187950" cy="1207770"/>
          </a:xfrm>
          <a:prstGeom prst="roundRect">
            <a:avLst>
              <a:gd name="adj" fmla="val 814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8580" y="1722120"/>
            <a:ext cx="48687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credit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18580" y="2057400"/>
            <a:ext cx="48687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commits their own notebooks and code, so GitHub shows real work from all three.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908936"/>
            <a:ext cx="5187950" cy="1207770"/>
          </a:xfrm>
          <a:prstGeom prst="roundRect">
            <a:avLst>
              <a:gd name="adj" fmla="val 814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6480" y="3114041"/>
            <a:ext cx="48687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viva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46480" y="3449320"/>
            <a:ext cx="48687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explain what you built yourself; weekly walkthroughs prepare you for teammates’ parts.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8075" y="2908936"/>
            <a:ext cx="5187950" cy="1207770"/>
          </a:xfrm>
          <a:prstGeom prst="roundRect">
            <a:avLst>
              <a:gd name="adj" fmla="val 8149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8580" y="3114041"/>
            <a:ext cx="486874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waiting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8580" y="3449320"/>
            <a:ext cx="48687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hand-offs: A’s data loader by 18 Oct and Achu’s test harness by 28 Oct. The rest runs in parallel.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split the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98107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builds one recommender (the guide requires each member to implement a mining technique) plus one slice of the shared groundwork.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11401"/>
          <a:ext cx="10556240" cy="2753995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B554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Repo owner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A5F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Emman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37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Achu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groundwork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loading, joins, dictionary, data-quality report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EDA: sparsity, long tail, distributions, hypothesis 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Time-based split, metrics, popularity baseline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recommender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Content-based (TF-IDF + cosine) and cold-start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Collaborative filtering: kNN + SVD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rules on liked movies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app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“Rate 5 movies”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section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&amp; methods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Experiments &amp; results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14300" marB="1143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insights, limitations, optional hybrid, slides and demo rehearsal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Everyone, before Wed 14 Oct (M0)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5175250" cy="2736850"/>
          </a:xfrm>
          <a:prstGeom prst="roundRect">
            <a:avLst>
              <a:gd name="adj" fmla="val 3596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4752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69924" y="2108200"/>
            <a:ext cx="4697679" cy="194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structure is ready ✓ (folders, README, requirements, CLAUDE.md)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(repo owner) adds Emman and Achu in Settings → Collaborators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and Achu accept the invite and set git user.email to their own GitHub email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adds their row to the README contribution table, one at a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4"/>
            <a:ext cx="5175250" cy="2736850"/>
          </a:xfrm>
          <a:prstGeom prst="roundRect">
            <a:avLst>
              <a:gd name="adj" fmla="val 3596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747521"/>
            <a:ext cx="480334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+ proposal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54724" y="2108200"/>
            <a:ext cx="4697679" cy="146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notebooks from the GitHub tab in Colab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with File → Save a copy in GitHub: the commit is under your account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makes one test commit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1-page proposal together: problem, 3 questions, module ownership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MovieLens files: every notebook downloads them from GroupLens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B5541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00200" y="894082"/>
            <a:ext cx="771363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data &amp; content-based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3380264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910082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groundwork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9924" y="2270761"/>
            <a:ext cx="2848843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MovieLens in Colab; join ratings, movies, tags, links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data dictionary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report: missing, duplicates, bad values, outliers, each decision justified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recommender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9738" y="2270761"/>
            <a:ext cx="2848925" cy="164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on genres + tags, cosine similarity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“Because you liked…” explanation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analysis for users with few ratings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it with Achu’s harness vs the baseline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82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report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9631" y="2270761"/>
            <a:ext cx="2848925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with EDA charts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Data section (source, license, cleaning)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module in the viva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37642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BE5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55422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4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YOU 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4818382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01_data_quality_A.ipynb · 04_content_based_A.ipynb · src/data.py · src/content_based.py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7600" y="437642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BE5D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55422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4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YOU MAKE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818382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sample the 32M data, how to treat outliers, which tags to keep, how to cite the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 · repo owner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2A5F9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00200" y="894082"/>
            <a:ext cx="8761857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 · EDA &amp; collaborative filtering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3380264" cy="2670810"/>
          </a:xfrm>
          <a:prstGeom prst="roundRect">
            <a:avLst>
              <a:gd name="adj" fmla="val 3685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910082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groundwork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9924" y="2270761"/>
            <a:ext cx="284884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 of the user–movie matrix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tail of popularity, rating distributions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hypothesis test that answers a real question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679575"/>
            <a:ext cx="3380343" cy="2670810"/>
          </a:xfrm>
          <a:prstGeom prst="roundRect">
            <a:avLst>
              <a:gd name="adj" fmla="val 3685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recommender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9738" y="2270761"/>
            <a:ext cx="284892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Item-item and user-user kNN (cosine / Pearson)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factorisation with TruncatedSVD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effect of k and n_components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+ top-k metrics via Achu’s harness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82" y="1679575"/>
            <a:ext cx="3380343" cy="2670810"/>
          </a:xfrm>
          <a:prstGeom prst="roundRect">
            <a:avLst>
              <a:gd name="adj" fmla="val 3685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report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9631" y="2270761"/>
            <a:ext cx="28489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“Rate 5 movies” page wiring all three recommenders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Methods section + pipeline diagram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module in the viva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60756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1E7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78536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YOU 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5049521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02_eda_B.ipynb · 05_collaborative_B.ipynb · src/collaborative.py · app/app.py (try-it page)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7600" y="460756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E1E7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78536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YOU MAKE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5049521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hypothesis test, which k and n_components, how to keep the matrix small enough for Colab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B · Emman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hR="304800" wR="304800" stAng="16200000" swAng="5400000"/>
                <a:lnTo>
                  <a:pt x="609600" y="304800"/>
                </a:lnTo>
                <a:arcTo hR="304800" wR="304800" stAng="0" swAng="5400000"/>
                <a:lnTo>
                  <a:pt x="304800" y="609600"/>
                </a:lnTo>
                <a:arcTo hR="304800" wR="304800" stAng="5400000" swAng="5400000"/>
                <a:lnTo>
                  <a:pt x="0" y="304800"/>
                </a:lnTo>
                <a:arcTo hR="304800" wR="304800" stAng="10800000" swAng="5400000"/>
                <a:close/>
              </a:path>
            </a:pathLst>
          </a:custGeom>
          <a:solidFill>
            <a:srgbClr val="23705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00200" y="894082"/>
            <a:ext cx="867203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Achu · evaluation &amp; association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3380264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910082"/>
            <a:ext cx="295450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groundwork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9924" y="2270761"/>
            <a:ext cx="2848843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train/test split per user + leakage check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RMSE, precision@k, recall@k, NDCG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baseline everyone compares against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recommender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9738" y="2270761"/>
            <a:ext cx="2848925" cy="164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on “liked” movies (rating ≥ 4)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in mlxtend; tune support, confidence, lift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“because you liked” explanation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comparison table of all methods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82" y="1679575"/>
            <a:ext cx="3380343" cy="2439670"/>
          </a:xfrm>
          <a:prstGeom prst="roundRect">
            <a:avLst>
              <a:gd name="adj" fmla="val 4034"/>
            </a:avLst>
          </a:prstGeom>
          <a:solidFill>
            <a:srgbClr val="FFFDF9"/>
          </a:solidFill>
          <a:ln w="6350">
            <a:solidFill>
              <a:srgbClr val="E2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1910082"/>
            <a:ext cx="295458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report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9631" y="2270761"/>
            <a:ext cx="284892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Streamlit Community Cloud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Experiments &amp; results section</a:t>
            </a:r>
            <a:endParaRPr lang="en-US" sz="1300" dirty="0"/>
          </a:p>
          <a:p>
            <a:pPr algn="l" marL="155956" indent="-1559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module in the viva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37642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DDE9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55422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YOU 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4818379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03_evaluation_baseline_C.ipynb · 06_assoc_rules_C.ipynb · src/evaluation.py · src/assoc_rules.py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7600" y="4376421"/>
            <a:ext cx="5181600" cy="1082040"/>
          </a:xfrm>
          <a:prstGeom prst="roundRect">
            <a:avLst>
              <a:gd name="adj" fmla="val 9390"/>
            </a:avLst>
          </a:prstGeom>
          <a:solidFill>
            <a:srgbClr val="DDE9E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55422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5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YOU MAKE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818379"/>
            <a:ext cx="4918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train/test cutoff, what counts as “liked”, k for top-k lists, support and confidence thresholds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C · Achu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of us shows at every milestone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2"/>
          <a:ext cx="10556240" cy="297942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B64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B554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Repo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A5F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Emman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370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Achu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C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 · 14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+ invites done; data loads in Colab 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 draft: 3 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invite, first commit, evaluation plan for the 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 · 21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Data-quality report + dictionary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 + hypothesis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split + metrics harness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 · 28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Content-based v1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Item-kNN v1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Popularity baseline + first rules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· 18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Cold-start analysis; dashboard 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User-kNN + SVD; try-it 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recommender; app skeleton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· 2 Dec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Evaluated and tuned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Evaluated and tuned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table; app at public link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5742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15–16, together: insights, limitations, optional hybrid, report, full demo dry-run.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team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2"/>
            <a:ext cx="3386614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64642"/>
            <a:ext cx="3386614" cy="1239520"/>
          </a:xfrm>
          <a:custGeom>
            <a:avLst/>
            <a:gdLst/>
            <a:ahLst/>
            <a:cxnLst/>
            <a:rect l="l" t="t" r="r" b="b"/>
            <a:pathLst>
              <a:path w="3386614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803400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notebooks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1400" y="2138679"/>
            <a:ext cx="30172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edit a teammate’s .ipynb at the same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2614" y="1564642"/>
            <a:ext cx="3386693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8" name="Shape 6"/>
          <p:cNvSpPr/>
          <p:nvPr/>
        </p:nvSpPr>
        <p:spPr>
          <a:xfrm>
            <a:off x="4402614" y="1564642"/>
            <a:ext cx="3386693" cy="1239520"/>
          </a:xfrm>
          <a:custGeom>
            <a:avLst/>
            <a:gdLst/>
            <a:ahLst/>
            <a:cxnLst/>
            <a:rect l="l" t="t" r="r" b="b"/>
            <a:pathLst>
              <a:path w="3386693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9" name="Text 7"/>
          <p:cNvSpPr/>
          <p:nvPr/>
        </p:nvSpPr>
        <p:spPr>
          <a:xfrm>
            <a:off x="4631214" y="18034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then push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1214" y="2138679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pull before work; small commits from your own account.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2507" y="1564642"/>
            <a:ext cx="3386693" cy="1239520"/>
          </a:xfrm>
          <a:prstGeom prst="roundRect">
            <a:avLst>
              <a:gd name="adj" fmla="val 8197"/>
            </a:avLst>
          </a:prstGeom>
          <a:solidFill>
            <a:srgbClr val="2A3342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2507" y="1564642"/>
            <a:ext cx="3386693" cy="1239520"/>
          </a:xfrm>
          <a:custGeom>
            <a:avLst/>
            <a:gdLst/>
            <a:ahLst/>
            <a:cxnLst/>
            <a:rect l="l" t="t" r="r" b="b"/>
            <a:pathLst>
              <a:path w="3386693" h="12395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89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1107" y="1803400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in the repo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1107" y="2138679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MovieLens in Colab; data/ stays in .gitignore.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3007364"/>
            <a:ext cx="3386614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3007364"/>
            <a:ext cx="3386614" cy="1470660"/>
          </a:xfrm>
          <a:custGeom>
            <a:avLst/>
            <a:gdLst/>
            <a:ahLst/>
            <a:cxnLst/>
            <a:rect l="l" t="t" r="r" b="b"/>
            <a:pathLst>
              <a:path w="3386614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246121"/>
            <a:ext cx="301729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41400" y="3581400"/>
            <a:ext cx="301729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recommender has fit() and recommend(); Achu’s harness scores all of them.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02614" y="3007364"/>
            <a:ext cx="3386693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2614" y="3007364"/>
            <a:ext cx="3386693" cy="1470660"/>
          </a:xfrm>
          <a:custGeom>
            <a:avLst/>
            <a:gdLst/>
            <a:ahLst/>
            <a:cxnLst/>
            <a:rect l="l" t="t" r="r" b="b"/>
            <a:pathLst>
              <a:path w="3386693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21" name="Text 19"/>
          <p:cNvSpPr/>
          <p:nvPr/>
        </p:nvSpPr>
        <p:spPr>
          <a:xfrm>
            <a:off x="4631214" y="3246121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walkthrough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1214" y="3581400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each; the viva asks about teammates’ modules too.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92507" y="3007364"/>
            <a:ext cx="3386693" cy="1470660"/>
          </a:xfrm>
          <a:prstGeom prst="roundRect">
            <a:avLst>
              <a:gd name="adj" fmla="val 6908"/>
            </a:avLst>
          </a:prstGeom>
          <a:solidFill>
            <a:srgbClr val="2A334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92507" y="3007364"/>
            <a:ext cx="3386693" cy="1470660"/>
          </a:xfrm>
          <a:custGeom>
            <a:avLst/>
            <a:gdLst/>
            <a:ahLst/>
            <a:cxnLst/>
            <a:rect l="l" t="t" r="r" b="b"/>
            <a:pathLst>
              <a:path w="3386693" h="14706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6FA3D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1107" y="3246121"/>
            <a:ext cx="301737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AI use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1107" y="3581400"/>
            <a:ext cx="30173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Claude Code use in the report and be able to explain every 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07 Movie Recommender Lab — Team Plan">
  <a:themeElements>
    <a:clrScheme name="P07 Movie Recommender Lab — Team Plan">
      <a:dk1>
        <a:srgbClr val="1D2430"/>
      </a:dk1>
      <a:lt1>
        <a:srgbClr val="F6F3EE"/>
      </a:lt1>
      <a:dk2>
        <a:srgbClr val="535860"/>
      </a:dk2>
      <a:lt2>
        <a:srgbClr val="E0DEDB"/>
      </a:lt2>
      <a:accent1>
        <a:srgbClr val="B5541A"/>
      </a:accent1>
      <a:accent2>
        <a:srgbClr val="2A5F96"/>
      </a:accent2>
      <a:accent3>
        <a:srgbClr val="23705D"/>
      </a:accent3>
      <a:accent4>
        <a:srgbClr val="8A4013"/>
      </a:accent4>
      <a:accent5>
        <a:srgbClr val="1F4A75"/>
      </a:accent5>
      <a:accent6>
        <a:srgbClr val="1A5546"/>
      </a:accent6>
      <a:hlink>
        <a:srgbClr val="0563C1"/>
      </a:hlink>
      <a:folHlink>
        <a:srgbClr val="954F72"/>
      </a:folHlink>
    </a:clrScheme>
    <a:fontScheme name="P07 Movie Recommender Lab — Team Pl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Movie Recommender Lab — Team Plan</dc:title>
  <dc:subject/>
  <dc:creator/>
  <cp:lastModifiedBy/>
  <cp:revision>1</cp:revision>
  <dcterms:created xsi:type="dcterms:W3CDTF">2026-10-13T16:12:02Z</dcterms:created>
  <dcterms:modified xsi:type="dcterms:W3CDTF">2026-10-13T16:12:02Z</dcterms:modified>
</cp:coreProperties>
</file>