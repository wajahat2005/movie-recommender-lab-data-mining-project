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7376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5601"/>
            <a:ext cx="10566400" cy="441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7376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5601"/>
            <a:ext cx="10566400" cy="441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DS-311 Data Mining · P07 Movie Recommender Lab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7254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500" y="0"/>
                </a:moveTo>
                <a:lnTo>
                  <a:pt x="571500" y="0"/>
                </a:lnTo>
                <a:arcTo hR="571500" wR="571500" stAng="16200000" swAng="5400000"/>
                <a:lnTo>
                  <a:pt x="1143000" y="571500"/>
                </a:lnTo>
                <a:arcTo hR="571500" wR="571500" stAng="0" swAng="5400000"/>
                <a:lnTo>
                  <a:pt x="571500" y="1143000"/>
                </a:lnTo>
                <a:arcTo hR="571500" wR="571500" stAng="5400000" swAng="5400000"/>
                <a:lnTo>
                  <a:pt x="0" y="571500"/>
                </a:lnTo>
                <a:arcTo hR="571500" wR="571500" stAng="10800000" swAng="5400000"/>
                <a:close/>
              </a:path>
            </a:pathLst>
          </a:custGeom>
          <a:solidFill>
            <a:srgbClr val="E889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840"/>
              </a:lnSpc>
              <a:buNone/>
            </a:pPr>
            <a:r>
              <a:rPr lang="en-US" sz="5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2209800" y="1497330"/>
            <a:ext cx="850265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A: your tasks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264414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E88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+ content-based recommender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320294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You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5156200"/>
            <a:ext cx="10566400" cy="889000"/>
          </a:xfrm>
          <a:prstGeom prst="roundRect">
            <a:avLst>
              <a:gd name="adj" fmla="val 11429"/>
            </a:avLst>
          </a:prstGeom>
          <a:solidFill>
            <a:srgbClr val="2A3342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334000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B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TEAMMATES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5598160"/>
            <a:ext cx="1046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 (B) · EDA &amp; collaborative filtering · Achu (C) · evaluation &amp; rules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00200" y="894080"/>
            <a:ext cx="9719119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Member A · data &amp; content-based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679575"/>
            <a:ext cx="3380264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910080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groundwork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9924" y="2270760"/>
            <a:ext cx="2848843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MovieLens in Colab; join ratings, movies, tags, links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data dictionary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report: missing, duplicates, bad values, outliers, each decision justified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789" y="1679575"/>
            <a:ext cx="3380343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191008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recommender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9738" y="2270760"/>
            <a:ext cx="2848925" cy="164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on genres + tags, cosine similarity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“Because you liked…” explanation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analysis for users with few ratings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it with Achu’s harness vs the baseline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682" y="1679575"/>
            <a:ext cx="3380343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1910080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report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9631" y="2270760"/>
            <a:ext cx="284892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 with EDA charts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Data section (source, license, cleaning)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module in the viva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376420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EBE5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554220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4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YOU 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000" y="4818380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01_data_quality_A.ipynb · 04_content_based_A.ipynb · src/data.py · src/content_based.py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7600" y="4376420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EBE5D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554220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4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YOU MAKE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818380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sample the 32M data, how to treat outliers, which tags to keep, how to cite the 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step: data loading &amp; quality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364616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54432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9080" y="154432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9080" y="182626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Colab, wget ml-latest-small.zip from GroupLens and unzip it. Never upload it to GitHub.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364616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54432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88480" y="154432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and join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8480" y="182626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ratings, movies, tags and links with pandas; merge on movieId so each rating has its title and genres.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262699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2806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9080" y="280670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9080" y="308864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of every column: name, type, meaning, example value. It goes in the notebook and the report.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262699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480" y="2806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88480" y="280670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problems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88480" y="308864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values, duplicate rows, ratings outside 0.5–5, “(no genres listed)”, users with huge rating counts.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975" y="388937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080" y="406908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29080" y="406908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and justify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9080" y="4351020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problem write one line: what you did (drop, keep, fix) and why. Graders look for this.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5375" y="388937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0480" y="406908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88480" y="406908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8480" y="4351020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code into src/data.py with a load_data() function so B and C reuse it instead of copying.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Claude Code can write the code; you must be able to explain each step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step: content-based recommender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364616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54432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9080" y="154432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movie 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9080" y="182626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movie, join its genres and user tags into one string, e.g. “Action Sci-Fi space aliens”.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364616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54432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88480" y="154432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8480" y="182626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TfidfVectorizer turns those strings into numbers; rare, specific words get more weight than common ones.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262699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2806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9080" y="280670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9080" y="308864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cosine_similarity between movie vectors: 1 means very similar, 0 means nothing in common.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262699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480" y="2806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88480" y="280670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88480" y="3088641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user’s liked movies (rating ≥ 4), find the most similar movies they haven’t seen, return the top 10.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975" y="388937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080" y="406908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29080" y="406908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9080" y="4351020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pick, keep the liked movie it was closest to: “because you liked Inception”.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5375" y="3889375"/>
            <a:ext cx="5200650" cy="1103630"/>
          </a:xfrm>
          <a:prstGeom prst="roundRect">
            <a:avLst>
              <a:gd name="adj" fmla="val 8918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0480" y="406908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88480" y="4069080"/>
            <a:ext cx="4410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+ cold start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8480" y="4351020"/>
            <a:ext cx="4410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with Achu’s harness vs popularity, then again only for users with fewer than 20 ratings.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Claude Code can write the code; you must be able to explain each step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you’ll be asked about in the viva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3403600" cy="1442720"/>
          </a:xfrm>
          <a:prstGeom prst="roundRect">
            <a:avLst>
              <a:gd name="adj" fmla="val 7042"/>
            </a:avLst>
          </a:prstGeom>
          <a:solidFill>
            <a:srgbClr val="2A3342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13839"/>
            <a:ext cx="3403600" cy="1442720"/>
          </a:xfrm>
          <a:custGeom>
            <a:avLst/>
            <a:gdLst/>
            <a:ahLst/>
            <a:cxnLst/>
            <a:rect l="l" t="t" r="r" b="b"/>
            <a:pathLst>
              <a:path w="3403600" h="14427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66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52600"/>
            <a:ext cx="30347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2059939"/>
            <a:ext cx="30347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text into numbers. Words common in one movie but rare overall get the highest scores.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4200" y="1513839"/>
            <a:ext cx="3403600" cy="1442720"/>
          </a:xfrm>
          <a:prstGeom prst="roundRect">
            <a:avLst>
              <a:gd name="adj" fmla="val 7042"/>
            </a:avLst>
          </a:prstGeom>
          <a:solidFill>
            <a:srgbClr val="2A3342"/>
          </a:solidFill>
          <a:ln/>
        </p:spPr>
      </p:sp>
      <p:sp>
        <p:nvSpPr>
          <p:cNvPr id="8" name="Shape 6"/>
          <p:cNvSpPr/>
          <p:nvPr/>
        </p:nvSpPr>
        <p:spPr>
          <a:xfrm>
            <a:off x="4394200" y="1513839"/>
            <a:ext cx="3403600" cy="1442720"/>
          </a:xfrm>
          <a:custGeom>
            <a:avLst/>
            <a:gdLst/>
            <a:ahLst/>
            <a:cxnLst/>
            <a:rect l="l" t="t" r="r" b="b"/>
            <a:pathLst>
              <a:path w="3403600" h="14427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66A"/>
          </a:solidFill>
          <a:ln/>
        </p:spPr>
      </p:sp>
      <p:sp>
        <p:nvSpPr>
          <p:cNvPr id="9" name="Text 7"/>
          <p:cNvSpPr/>
          <p:nvPr/>
        </p:nvSpPr>
        <p:spPr>
          <a:xfrm>
            <a:off x="4622800" y="1752600"/>
            <a:ext cx="30347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22800" y="2059939"/>
            <a:ext cx="30347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the angle between two vectors: 1 = same direction (similar), 0 = unrelated.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75600" y="1513839"/>
            <a:ext cx="3403600" cy="1442720"/>
          </a:xfrm>
          <a:prstGeom prst="roundRect">
            <a:avLst>
              <a:gd name="adj" fmla="val 7042"/>
            </a:avLst>
          </a:prstGeom>
          <a:solidFill>
            <a:srgbClr val="2A3342"/>
          </a:solidFill>
          <a:ln/>
        </p:spPr>
      </p:sp>
      <p:sp>
        <p:nvSpPr>
          <p:cNvPr id="12" name="Shape 10"/>
          <p:cNvSpPr/>
          <p:nvPr/>
        </p:nvSpPr>
        <p:spPr>
          <a:xfrm>
            <a:off x="7975600" y="1513839"/>
            <a:ext cx="3403600" cy="1442720"/>
          </a:xfrm>
          <a:custGeom>
            <a:avLst/>
            <a:gdLst/>
            <a:ahLst/>
            <a:cxnLst/>
            <a:rect l="l" t="t" r="r" b="b"/>
            <a:pathLst>
              <a:path w="3403600" h="14427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66A"/>
          </a:solidFill>
          <a:ln/>
        </p:spPr>
      </p:sp>
      <p:sp>
        <p:nvSpPr>
          <p:cNvPr id="13" name="Text 11"/>
          <p:cNvSpPr/>
          <p:nvPr/>
        </p:nvSpPr>
        <p:spPr>
          <a:xfrm>
            <a:off x="8204200" y="1752600"/>
            <a:ext cx="30347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04200" y="2059939"/>
            <a:ext cx="30347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user or movie with almost no ratings. Content-based methods handle it better than CF.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3134361"/>
            <a:ext cx="3403600" cy="1442720"/>
          </a:xfrm>
          <a:prstGeom prst="roundRect">
            <a:avLst>
              <a:gd name="adj" fmla="val 7042"/>
            </a:avLst>
          </a:prstGeom>
          <a:solidFill>
            <a:srgbClr val="2A33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800" y="3134361"/>
            <a:ext cx="3403600" cy="1442720"/>
          </a:xfrm>
          <a:custGeom>
            <a:avLst/>
            <a:gdLst/>
            <a:ahLst/>
            <a:cxnLst/>
            <a:rect l="l" t="t" r="r" b="b"/>
            <a:pathLst>
              <a:path w="3403600" h="14427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66A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3373121"/>
            <a:ext cx="30347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400" y="3680461"/>
            <a:ext cx="30347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table that explains what every column in the dataset means.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94200" y="3134361"/>
            <a:ext cx="3403600" cy="1442720"/>
          </a:xfrm>
          <a:prstGeom prst="roundRect">
            <a:avLst>
              <a:gd name="adj" fmla="val 7042"/>
            </a:avLst>
          </a:prstGeom>
          <a:solidFill>
            <a:srgbClr val="2A3342"/>
          </a:solidFill>
          <a:ln/>
        </p:spPr>
      </p:sp>
      <p:sp>
        <p:nvSpPr>
          <p:cNvPr id="20" name="Shape 18"/>
          <p:cNvSpPr/>
          <p:nvPr/>
        </p:nvSpPr>
        <p:spPr>
          <a:xfrm>
            <a:off x="4394200" y="3134361"/>
            <a:ext cx="3403600" cy="1442720"/>
          </a:xfrm>
          <a:custGeom>
            <a:avLst/>
            <a:gdLst/>
            <a:ahLst/>
            <a:cxnLst/>
            <a:rect l="l" t="t" r="r" b="b"/>
            <a:pathLst>
              <a:path w="3403600" h="14427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66A"/>
          </a:solidFill>
          <a:ln/>
        </p:spPr>
      </p:sp>
      <p:sp>
        <p:nvSpPr>
          <p:cNvPr id="21" name="Text 19"/>
          <p:cNvSpPr/>
          <p:nvPr/>
        </p:nvSpPr>
        <p:spPr>
          <a:xfrm>
            <a:off x="4622800" y="3373121"/>
            <a:ext cx="30347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22800" y="3680461"/>
            <a:ext cx="30347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 far from the rest, e.g. one user with 2,000+ ratings. Count it, then decide what to do.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75600" y="3134361"/>
            <a:ext cx="3403600" cy="1442720"/>
          </a:xfrm>
          <a:prstGeom prst="roundRect">
            <a:avLst>
              <a:gd name="adj" fmla="val 7042"/>
            </a:avLst>
          </a:prstGeom>
          <a:solidFill>
            <a:srgbClr val="2A3342"/>
          </a:solidFill>
          <a:ln/>
        </p:spPr>
      </p:sp>
      <p:sp>
        <p:nvSpPr>
          <p:cNvPr id="24" name="Shape 22"/>
          <p:cNvSpPr/>
          <p:nvPr/>
        </p:nvSpPr>
        <p:spPr>
          <a:xfrm>
            <a:off x="7975600" y="3134361"/>
            <a:ext cx="3403600" cy="1442720"/>
          </a:xfrm>
          <a:custGeom>
            <a:avLst/>
            <a:gdLst/>
            <a:ahLst/>
            <a:cxnLst/>
            <a:rect l="l" t="t" r="r" b="b"/>
            <a:pathLst>
              <a:path w="3403600" h="14427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66A"/>
          </a:solidFill>
          <a:ln/>
        </p:spPr>
      </p:sp>
      <p:sp>
        <p:nvSpPr>
          <p:cNvPr id="25" name="Text 23"/>
          <p:cNvSpPr/>
          <p:nvPr/>
        </p:nvSpPr>
        <p:spPr>
          <a:xfrm>
            <a:off x="8204200" y="3373121"/>
            <a:ext cx="30347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04200" y="3680461"/>
            <a:ext cx="303479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simplest possible method (most-popular movies). Real models must beat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1 OF 6 · M0 · PROPOSAL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→ Wed 14 Oct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27175"/>
            <a:ext cx="6418818" cy="3552190"/>
          </a:xfrm>
          <a:prstGeom prst="roundRect">
            <a:avLst>
              <a:gd name="adj" fmla="val 2771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732282"/>
            <a:ext cx="608421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do, in 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1056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78280" y="2105661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repo: add Emman and Achu in Settings → Collaborators and check they accept.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880" y="268223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78280" y="2682239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row to the README contribution table, then help Emman and Achu make their first commits.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880" y="32588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8280" y="3258821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notebooks/01_data_quality_A.ipynb with a cell that downloads and unzips ml-latest-small.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1880" y="3835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8280" y="3835400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ratings and movies, print their shapes and first rows, then save the notebook to GitHub.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1880" y="441198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8280" y="4411982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part to Emman’s proposal draft: data cleaning and the content-based recommender.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41168" y="1524000"/>
            <a:ext cx="3938032" cy="1459865"/>
          </a:xfrm>
          <a:prstGeom prst="roundRect">
            <a:avLst>
              <a:gd name="adj" fmla="val 6960"/>
            </a:avLst>
          </a:prstGeom>
          <a:solidFill>
            <a:srgbClr val="1D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7695168" y="1727200"/>
            <a:ext cx="353293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93212" y="2062482"/>
            <a:ext cx="3427269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loads in Colab with no errors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shows commits from all 3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has your section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1168" y="3136264"/>
            <a:ext cx="3938032" cy="1628140"/>
          </a:xfrm>
          <a:prstGeom prst="roundRect">
            <a:avLst>
              <a:gd name="adj" fmla="val 6240"/>
            </a:avLst>
          </a:prstGeom>
          <a:solidFill>
            <a:srgbClr val="EBE5DA"/>
          </a:solidFill>
          <a:ln/>
        </p:spPr>
      </p:sp>
      <p:sp>
        <p:nvSpPr>
          <p:cNvPr id="20" name="Text 18"/>
          <p:cNvSpPr/>
          <p:nvPr/>
        </p:nvSpPr>
        <p:spPr>
          <a:xfrm>
            <a:off x="7669768" y="3314064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THE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9768" y="3578225"/>
            <a:ext cx="35852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with all 3 members + data loading in Colab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9768" y="4091307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69768" y="4355464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 (proposal), Achu (evaluation plan)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Commit at least once a week from your own account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2 OF 6 · M1 · DATA QUALITY &amp;AMP; EDA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Oct → Wed 21 Oct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27175"/>
            <a:ext cx="6418818" cy="3186430"/>
          </a:xfrm>
          <a:prstGeom prst="roundRect">
            <a:avLst>
              <a:gd name="adj" fmla="val 3089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732282"/>
            <a:ext cx="608421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do, in 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1056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78280" y="2105661"/>
            <a:ext cx="57533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all four files (ratings, movies, tags, links) and merge them on movieId.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880" y="24993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78280" y="2499361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data dictionary: every column with its type, meaning and an example value.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880" y="307593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8280" y="3075939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missing values, duplicates, ratings outside 0.5–5, “(no genres listed)” and extreme users.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1880" y="36525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8280" y="3652521"/>
            <a:ext cx="57533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each check, write what you did (drop, keep, fix) and one line on why.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1880" y="40462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8280" y="4046221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Sun 18 Oct, move the loading code into src/data.py as load_data() for Emman and Achu.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41168" y="1524000"/>
            <a:ext cx="3938032" cy="1459865"/>
          </a:xfrm>
          <a:prstGeom prst="roundRect">
            <a:avLst>
              <a:gd name="adj" fmla="val 6960"/>
            </a:avLst>
          </a:prstGeom>
          <a:solidFill>
            <a:srgbClr val="1D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7695168" y="1727200"/>
            <a:ext cx="353293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93212" y="2062482"/>
            <a:ext cx="3427269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table complete with decisions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src/data.py pushed and working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 in the notebook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1168" y="3136264"/>
            <a:ext cx="3938032" cy="1397000"/>
          </a:xfrm>
          <a:prstGeom prst="roundRect">
            <a:avLst>
              <a:gd name="adj" fmla="val 7273"/>
            </a:avLst>
          </a:prstGeom>
          <a:solidFill>
            <a:srgbClr val="EBE5DA"/>
          </a:solidFill>
          <a:ln/>
        </p:spPr>
      </p:sp>
      <p:sp>
        <p:nvSpPr>
          <p:cNvPr id="20" name="Text 18"/>
          <p:cNvSpPr/>
          <p:nvPr/>
        </p:nvSpPr>
        <p:spPr>
          <a:xfrm>
            <a:off x="7669768" y="3314064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THE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9768" y="35782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data-quality 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9768" y="3860164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69768" y="41243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 (her EDA uses your cleaned data)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Commit at least once a week from your own account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3 OF 6 · M2 · FIRST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Oct → Wed 28 Oct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27175"/>
            <a:ext cx="6418818" cy="3003550"/>
          </a:xfrm>
          <a:prstGeom prst="roundRect">
            <a:avLst>
              <a:gd name="adj" fmla="val 3277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732282"/>
            <a:ext cx="608421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do, in 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1056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78280" y="2105661"/>
            <a:ext cx="5665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movie, join its genres and tags into one text string.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880" y="24993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78280" y="2499361"/>
            <a:ext cx="5665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that text into numbers with TfidfVectorizer.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880" y="28930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8280" y="2893061"/>
            <a:ext cx="5665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cosine similarity between all movies.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1880" y="32867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8280" y="3286761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user, recommend the 10 most similar unseen movies to the ones they rated 4 or more.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1880" y="386333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8280" y="3863339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it with Achu’s evaluate() against the popularity baseline and note the numbers.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41168" y="1524000"/>
            <a:ext cx="3938032" cy="1459865"/>
          </a:xfrm>
          <a:prstGeom prst="roundRect">
            <a:avLst>
              <a:gd name="adj" fmla="val 6960"/>
            </a:avLst>
          </a:prstGeom>
          <a:solidFill>
            <a:srgbClr val="1D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7695168" y="1727200"/>
            <a:ext cx="353293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93212" y="2062482"/>
            <a:ext cx="3427269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list works for any user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Precision@10 compared with the baseline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04 saved to GitHub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1168" y="3136264"/>
            <a:ext cx="3938032" cy="1397000"/>
          </a:xfrm>
          <a:prstGeom prst="roundRect">
            <a:avLst>
              <a:gd name="adj" fmla="val 7273"/>
            </a:avLst>
          </a:prstGeom>
          <a:solidFill>
            <a:srgbClr val="EBE5DA"/>
          </a:solidFill>
          <a:ln/>
        </p:spPr>
      </p:sp>
      <p:sp>
        <p:nvSpPr>
          <p:cNvPr id="20" name="Text 18"/>
          <p:cNvSpPr/>
          <p:nvPr/>
        </p:nvSpPr>
        <p:spPr>
          <a:xfrm>
            <a:off x="7669768" y="3314064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THE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9768" y="35782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content-based results vs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9768" y="3860164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69768" y="41243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Achu (evaluation harness)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Commit at least once a week from your own account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4 OF 6 · M3 · CORE COMPLETE (MIDTERM IN WK 9)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Oct → Wed 18 Nov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27175"/>
            <a:ext cx="6418818" cy="3369310"/>
          </a:xfrm>
          <a:prstGeom prst="roundRect">
            <a:avLst>
              <a:gd name="adj" fmla="val 2921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732279"/>
            <a:ext cx="608421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do, in 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1056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78280" y="2105664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9, exam week: keep it light, just add “because you liked…” explanations.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880" y="26822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78280" y="2682242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10: cold-start check: score again only for users with fewer than 20 ratings.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880" y="32588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8280" y="3258821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10: sample MovieLens 32M and write down how and why you sampled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1880" y="3835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8280" y="3835400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11: build the Dashboard page in app/app.py: rating distribution, long tail, sparsity.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1880" y="44119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8280" y="4411979"/>
            <a:ext cx="5665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your recommender code into src/content_based.py.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41168" y="1524000"/>
            <a:ext cx="3938032" cy="1459865"/>
          </a:xfrm>
          <a:prstGeom prst="roundRect">
            <a:avLst>
              <a:gd name="adj" fmla="val 6960"/>
            </a:avLst>
          </a:prstGeom>
          <a:solidFill>
            <a:srgbClr val="1D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7695168" y="1727200"/>
            <a:ext cx="353293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93212" y="2062479"/>
            <a:ext cx="3427269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table done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 opens with streamlit run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lives in src/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1168" y="3136267"/>
            <a:ext cx="3938032" cy="1397000"/>
          </a:xfrm>
          <a:prstGeom prst="roundRect">
            <a:avLst>
              <a:gd name="adj" fmla="val 7273"/>
            </a:avLst>
          </a:prstGeom>
          <a:solidFill>
            <a:srgbClr val="EBE5DA"/>
          </a:solidFill>
          <a:ln/>
        </p:spPr>
      </p:sp>
      <p:sp>
        <p:nvSpPr>
          <p:cNvPr id="20" name="Text 18"/>
          <p:cNvSpPr/>
          <p:nvPr/>
        </p:nvSpPr>
        <p:spPr>
          <a:xfrm>
            <a:off x="7669768" y="3314067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THE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9768" y="35782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skeleton with your dashboard page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9768" y="3860167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69768" y="41243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 (EDA charts), Achu (app skeleton)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Commit at least once a week from your own account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5 OF 6 · M4 · EVALUATION + APP ONLINE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Nov → Wed 2 Dec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27175"/>
            <a:ext cx="6418818" cy="3186430"/>
          </a:xfrm>
          <a:prstGeom prst="roundRect">
            <a:avLst>
              <a:gd name="adj" fmla="val 3089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732279"/>
            <a:ext cx="608421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do, in 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1056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78280" y="2105664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Tune: genres only vs genres + tags, and vocabulary size (min_df); record each result.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880" y="26822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78280" y="2682242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 the final evaluation on the time-based split and add your row to the comparison 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880" y="32588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8280" y="3258821"/>
            <a:ext cx="57533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through the leakage check with Achu and confirm your model passes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1880" y="36525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8280" y="3652521"/>
            <a:ext cx="5665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dashboard page works on the public Streamlit link.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1880" y="40462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8280" y="4046221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report’s Data section: source, license, size and cleaning decisions.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41168" y="1524000"/>
            <a:ext cx="3938032" cy="1459865"/>
          </a:xfrm>
          <a:prstGeom prst="roundRect">
            <a:avLst>
              <a:gd name="adj" fmla="val 6960"/>
            </a:avLst>
          </a:prstGeom>
          <a:solidFill>
            <a:srgbClr val="1D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7695168" y="1727200"/>
            <a:ext cx="353293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93212" y="2062479"/>
            <a:ext cx="3427269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numbers in the comparison table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works online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section drafted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1168" y="3136267"/>
            <a:ext cx="3938032" cy="1397000"/>
          </a:xfrm>
          <a:prstGeom prst="roundRect">
            <a:avLst>
              <a:gd name="adj" fmla="val 7273"/>
            </a:avLst>
          </a:prstGeom>
          <a:solidFill>
            <a:srgbClr val="EBE5DA"/>
          </a:solidFill>
          <a:ln/>
        </p:spPr>
      </p:sp>
      <p:sp>
        <p:nvSpPr>
          <p:cNvPr id="20" name="Text 18"/>
          <p:cNvSpPr/>
          <p:nvPr/>
        </p:nvSpPr>
        <p:spPr>
          <a:xfrm>
            <a:off x="7669768" y="3314067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THE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9768" y="35782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evaluation + app at a public link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9768" y="3860167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69768" y="41243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Achu (comparison table, deployment)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Commit at least once a week from your own account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6 OF 6 · FREEZE 16 DEC · SUBMIT, DEMO, VIVA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Dec → 23 Dec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27175"/>
            <a:ext cx="6418818" cy="3003550"/>
          </a:xfrm>
          <a:prstGeom prst="roundRect">
            <a:avLst>
              <a:gd name="adj" fmla="val 3277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732279"/>
            <a:ext cx="608421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do, in 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1056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78280" y="2105664"/>
            <a:ext cx="57533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Wed 16 Dec (freeze): finish the Data section; no new features after this.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880" y="24993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78280" y="2499364"/>
            <a:ext cx="575333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bonus: build the hybrid (content + CF) recommender with Emman.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880" y="28930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8280" y="2893064"/>
            <a:ext cx="5665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contribution table and AI-use disclosure with the team.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1880" y="32867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8280" y="3286764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Rehearse: explain every line of your code and practise one live parameter change.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1880" y="386334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8280" y="3863342"/>
            <a:ext cx="56656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Emman’s and Achu’s modules well enough to answer 2–3 questions on each.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41168" y="1524000"/>
            <a:ext cx="3938032" cy="1459865"/>
          </a:xfrm>
          <a:prstGeom prst="roundRect">
            <a:avLst>
              <a:gd name="adj" fmla="val 6960"/>
            </a:avLst>
          </a:prstGeom>
          <a:solidFill>
            <a:srgbClr val="1D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7695168" y="1727200"/>
            <a:ext cx="353293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93212" y="2062479"/>
            <a:ext cx="3427269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+ repo submitted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dry-run done as a team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DFE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explain all three recommenders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1168" y="3136267"/>
            <a:ext cx="3938032" cy="1397000"/>
          </a:xfrm>
          <a:prstGeom prst="roundRect">
            <a:avLst>
              <a:gd name="adj" fmla="val 7273"/>
            </a:avLst>
          </a:prstGeom>
          <a:solidFill>
            <a:srgbClr val="EBE5DA"/>
          </a:solidFill>
          <a:ln/>
        </p:spPr>
      </p:sp>
      <p:sp>
        <p:nvSpPr>
          <p:cNvPr id="20" name="Text 18"/>
          <p:cNvSpPr/>
          <p:nvPr/>
        </p:nvSpPr>
        <p:spPr>
          <a:xfrm>
            <a:off x="7669768" y="3314067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THE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9768" y="35782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21–23 Dec: submission, demo, viva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9768" y="3860167"/>
            <a:ext cx="3585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F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69768" y="4124325"/>
            <a:ext cx="35852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team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You · Commit at least once a week from your own account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 on the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2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builds one recommender (the guide requires each member to implement a mining technique) plus one slice of the shared groundwork.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11402"/>
          <a:ext cx="10556240" cy="2753995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4616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B554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You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5F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Emman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37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Achu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groundwork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loading, joins, dictionary, data-quality report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EDA: sparsity, long tail, distributions, hypothesis 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Time-based split, metrics, popularity 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recommender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Content-based (TF-IDF + cosine) and cold-start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Collaborative filtering: kNN + SVD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rules on liked movies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“Rate 5 movies”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section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&amp; methods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Experiments &amp; results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insights, limitations, optional hybrid, slides and demo rehearsal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team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42"/>
            <a:ext cx="3386614" cy="1239520"/>
          </a:xfrm>
          <a:prstGeom prst="roundRect">
            <a:avLst>
              <a:gd name="adj" fmla="val 8197"/>
            </a:avLst>
          </a:prstGeom>
          <a:solidFill>
            <a:srgbClr val="2A3342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64642"/>
            <a:ext cx="3386614" cy="1239520"/>
          </a:xfrm>
          <a:custGeom>
            <a:avLst/>
            <a:gdLst/>
            <a:ahLst/>
            <a:cxnLst/>
            <a:rect l="l" t="t" r="r" b="b"/>
            <a:pathLst>
              <a:path w="3386614" h="12395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14" y="0"/>
                </a:lnTo>
                <a:arcTo hR="101600" wR="101600" stAng="16200000" swAng="5400000"/>
                <a:lnTo>
                  <a:pt x="338661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894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803400"/>
            <a:ext cx="301729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your notebooks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1400" y="2138679"/>
            <a:ext cx="3017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edit a teammate’s .ipynb at the same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14" y="1564642"/>
            <a:ext cx="3386693" cy="1239520"/>
          </a:xfrm>
          <a:prstGeom prst="roundRect">
            <a:avLst>
              <a:gd name="adj" fmla="val 8197"/>
            </a:avLst>
          </a:prstGeom>
          <a:solidFill>
            <a:srgbClr val="2A3342"/>
          </a:solidFill>
          <a:ln/>
        </p:spPr>
      </p:sp>
      <p:sp>
        <p:nvSpPr>
          <p:cNvPr id="8" name="Shape 6"/>
          <p:cNvSpPr/>
          <p:nvPr/>
        </p:nvSpPr>
        <p:spPr>
          <a:xfrm>
            <a:off x="4402614" y="1564642"/>
            <a:ext cx="3386693" cy="1239520"/>
          </a:xfrm>
          <a:custGeom>
            <a:avLst/>
            <a:gdLst/>
            <a:ahLst/>
            <a:cxnLst/>
            <a:rect l="l" t="t" r="r" b="b"/>
            <a:pathLst>
              <a:path w="3386693" h="12395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894A"/>
          </a:solidFill>
          <a:ln/>
        </p:spPr>
      </p:sp>
      <p:sp>
        <p:nvSpPr>
          <p:cNvPr id="9" name="Text 7"/>
          <p:cNvSpPr/>
          <p:nvPr/>
        </p:nvSpPr>
        <p:spPr>
          <a:xfrm>
            <a:off x="4631214" y="1803400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Pull, then push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1214" y="2138679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before work; small commits from your own account.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2507" y="1564642"/>
            <a:ext cx="3386693" cy="1239520"/>
          </a:xfrm>
          <a:prstGeom prst="roundRect">
            <a:avLst>
              <a:gd name="adj" fmla="val 8197"/>
            </a:avLst>
          </a:prstGeom>
          <a:solidFill>
            <a:srgbClr val="2A3342"/>
          </a:solidFill>
          <a:ln/>
        </p:spPr>
      </p:sp>
      <p:sp>
        <p:nvSpPr>
          <p:cNvPr id="12" name="Shape 10"/>
          <p:cNvSpPr/>
          <p:nvPr/>
        </p:nvSpPr>
        <p:spPr>
          <a:xfrm>
            <a:off x="7992507" y="1564642"/>
            <a:ext cx="3386693" cy="1239520"/>
          </a:xfrm>
          <a:custGeom>
            <a:avLst/>
            <a:gdLst/>
            <a:ahLst/>
            <a:cxnLst/>
            <a:rect l="l" t="t" r="r" b="b"/>
            <a:pathLst>
              <a:path w="3386693" h="12395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89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1107" y="1803400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in the repo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1107" y="2138679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MovieLens in Colab; data/ stays in .gitignore.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3007364"/>
            <a:ext cx="3386614" cy="1470660"/>
          </a:xfrm>
          <a:prstGeom prst="roundRect">
            <a:avLst>
              <a:gd name="adj" fmla="val 6908"/>
            </a:avLst>
          </a:prstGeom>
          <a:solidFill>
            <a:srgbClr val="2A33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800" y="3007364"/>
            <a:ext cx="3386614" cy="1470660"/>
          </a:xfrm>
          <a:custGeom>
            <a:avLst/>
            <a:gdLst/>
            <a:ahLst/>
            <a:cxnLst/>
            <a:rect l="l" t="t" r="r" b="b"/>
            <a:pathLst>
              <a:path w="3386614" h="14706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14" y="0"/>
                </a:lnTo>
                <a:arcTo hR="101600" wR="101600" stAng="16200000" swAng="5400000"/>
                <a:lnTo>
                  <a:pt x="338661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6FA3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3246121"/>
            <a:ext cx="301729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41400" y="3581400"/>
            <a:ext cx="301729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recommender has fit() and recommend(); Achu’s harness scores all of them.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02614" y="3007364"/>
            <a:ext cx="3386693" cy="1470660"/>
          </a:xfrm>
          <a:prstGeom prst="roundRect">
            <a:avLst>
              <a:gd name="adj" fmla="val 6908"/>
            </a:avLst>
          </a:prstGeom>
          <a:solidFill>
            <a:srgbClr val="2A3342"/>
          </a:solidFill>
          <a:ln/>
        </p:spPr>
      </p:sp>
      <p:sp>
        <p:nvSpPr>
          <p:cNvPr id="20" name="Shape 18"/>
          <p:cNvSpPr/>
          <p:nvPr/>
        </p:nvSpPr>
        <p:spPr>
          <a:xfrm>
            <a:off x="4402614" y="3007364"/>
            <a:ext cx="3386693" cy="1470660"/>
          </a:xfrm>
          <a:custGeom>
            <a:avLst/>
            <a:gdLst/>
            <a:ahLst/>
            <a:cxnLst/>
            <a:rect l="l" t="t" r="r" b="b"/>
            <a:pathLst>
              <a:path w="3386693" h="14706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6FA3D8"/>
          </a:solidFill>
          <a:ln/>
        </p:spPr>
      </p:sp>
      <p:sp>
        <p:nvSpPr>
          <p:cNvPr id="21" name="Text 19"/>
          <p:cNvSpPr/>
          <p:nvPr/>
        </p:nvSpPr>
        <p:spPr>
          <a:xfrm>
            <a:off x="4631214" y="3246121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walkthrough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31214" y="3581400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each; the viva asks about teammates’ modules too.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92507" y="3007364"/>
            <a:ext cx="3386693" cy="1470660"/>
          </a:xfrm>
          <a:prstGeom prst="roundRect">
            <a:avLst>
              <a:gd name="adj" fmla="val 6908"/>
            </a:avLst>
          </a:prstGeom>
          <a:solidFill>
            <a:srgbClr val="2A3342"/>
          </a:solidFill>
          <a:ln/>
        </p:spPr>
      </p:sp>
      <p:sp>
        <p:nvSpPr>
          <p:cNvPr id="24" name="Shape 22"/>
          <p:cNvSpPr/>
          <p:nvPr/>
        </p:nvSpPr>
        <p:spPr>
          <a:xfrm>
            <a:off x="7992507" y="3007364"/>
            <a:ext cx="3386693" cy="1470660"/>
          </a:xfrm>
          <a:custGeom>
            <a:avLst/>
            <a:gdLst/>
            <a:ahLst/>
            <a:cxnLst/>
            <a:rect l="l" t="t" r="r" b="b"/>
            <a:pathLst>
              <a:path w="3386693" h="14706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6FA3D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1107" y="3246121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AI use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1107" y="3581400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Claude Code use in the report and be able to explain every 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07 — Member A tasks">
  <a:themeElements>
    <a:clrScheme name="P07 — Member A tasks">
      <a:dk1>
        <a:srgbClr val="1D2430"/>
      </a:dk1>
      <a:lt1>
        <a:srgbClr val="F6F3EE"/>
      </a:lt1>
      <a:dk2>
        <a:srgbClr val="535860"/>
      </a:dk2>
      <a:lt2>
        <a:srgbClr val="E0DEDB"/>
      </a:lt2>
      <a:accent1>
        <a:srgbClr val="B5541A"/>
      </a:accent1>
      <a:accent2>
        <a:srgbClr val="E8894A"/>
      </a:accent2>
      <a:accent3>
        <a:srgbClr val="8A4013"/>
      </a:accent3>
      <a:accent4>
        <a:srgbClr val="E8A66A"/>
      </a:accent4>
      <a:accent5>
        <a:srgbClr val="C9CDD4"/>
      </a:accent5>
      <a:accent6>
        <a:srgbClr val="3A404A"/>
      </a:accent6>
      <a:hlink>
        <a:srgbClr val="0563C1"/>
      </a:hlink>
      <a:folHlink>
        <a:srgbClr val="954F72"/>
      </a:folHlink>
    </a:clrScheme>
    <a:fontScheme name="P07 — Member A task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— Member A tasks</dc:title>
  <dc:subject/>
  <dc:creator/>
  <cp:lastModifiedBy/>
  <cp:revision>1</cp:revision>
  <dcterms:created xsi:type="dcterms:W3CDTF">2026-10-13T16:12:59Z</dcterms:created>
  <dcterms:modified xsi:type="dcterms:W3CDTF">2026-10-13T16:12:59Z</dcterms:modified>
</cp:coreProperties>
</file>